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f51f96da-11af-47b2-b302-02608256cd88.fntdata" /><ns0:Relationship Id="rIdFont13" Type="http://schemas.openxmlformats.org/officeDocument/2006/relationships/font" Target="fonts/1ee41c93-3574-477d-9bed-81ac474a623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695950"/>
            <a:ext cx="10668000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44075" y="571500"/>
            <a:ext cx="1685925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6959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85975" y="647700"/>
            <a:ext cx="19050" cy="171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676400"/>
            <a:ext cx="4191000" cy="3429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8102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5" y="1800225"/>
            <a:ext cx="3943350" cy="3181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34575" y="647700"/>
            <a:ext cx="140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BÁO CÁO TÀI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590550"/>
            <a:ext cx="1000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D4ED8"/>
                </a:solidFill>
                <a:latin typeface="Plus Jakarta Sans"/>
              </a:rPr>
              <a:t>PayKX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275" y="647700"/>
            <a:ext cx="17668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Ví điện tử cho sinh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222301"/>
            <a:ext cx="7381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KẾT QUẢ KINH DOANH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555676"/>
            <a:ext cx="630078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BÁO CÁO LỖ LÃI </a:t>
            </a:r>
            <a:r>
              <a:t>
</a:t>
            </a:r>
            <a:r>
              <a:rPr b="1" sz="4200" i="0" u="none">
                <a:solidFill>
                  <a:srgbClr val="2563EB"/>
                </a:solidFill>
                <a:latin typeface="Plus Jakarta Sans"/>
              </a:rPr>
              <a:t>THÁNG 05/2024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010917"/>
            <a:ext cx="6000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Tăng trưởng doanh thu mạnh mẽ – Tối ưu chi phí vận hành – Lợi nhuận đạt mốc bứt phá toàn diện.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34075"/>
            <a:ext cx="1276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NGÀY CẬP NHẬT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086475"/>
            <a:ext cx="1276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31/05/2024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3600" y="5934075"/>
            <a:ext cx="1181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ĐƠN VỊ TIỀN TỆ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600" y="6086475"/>
            <a:ext cx="1181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VNĐ (Tỷ)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91200"/>
            <a:ext cx="10972800" cy="609600"/>
          </a:xfrm>
          <a:prstGeom prst="roundRect">
            <a:avLst>
              <a:gd name="adj" fmla="val 21875"/>
            </a:avLst>
          </a:prstGeom>
          <a:solidFill>
            <a:srgbClr val="22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43137"/>
            <a:ext cx="2600325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243137"/>
            <a:ext cx="2600325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243137"/>
            <a:ext cx="2600325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243137"/>
            <a:ext cx="2600325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96450" y="5962650"/>
            <a:ext cx="1581150" cy="266700"/>
          </a:xfrm>
          <a:prstGeom prst="roundRect">
            <a:avLst>
              <a:gd name="adj" fmla="val 50000"/>
            </a:avLst>
          </a:prstGeom>
          <a:solidFill>
            <a:srgbClr val="4E7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52537" y="4148137"/>
            <a:ext cx="1314450" cy="24765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57650" y="4148137"/>
            <a:ext cx="1285875" cy="24765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29425" y="4148137"/>
            <a:ext cx="1323975" cy="24765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25012" y="4148137"/>
            <a:ext cx="1314450" cy="24765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817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112" y="2481262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937" y="2481262"/>
            <a:ext cx="495300" cy="49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762" y="2481262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4587" y="2481262"/>
            <a:ext cx="495300" cy="495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962650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4987" y="2624137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7787" y="4205287"/>
            <a:ext cx="8572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5812" y="2624137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2900" y="4205287"/>
            <a:ext cx="8572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6637" y="2624137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4675" y="4205287"/>
            <a:ext cx="8572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01275" y="2624137"/>
            <a:ext cx="16192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0262" y="4205287"/>
            <a:ext cx="85725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14362"/>
            <a:ext cx="8953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D4ED8"/>
                </a:solidFill>
                <a:latin typeface="Plus Jakarta Sans"/>
              </a:rPr>
              <a:t>PayKX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850" y="6019800"/>
            <a:ext cx="1371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ĐẠT 108% KẾ HOẠCH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57200"/>
            <a:ext cx="558819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TỔNG QUAN KẾT QUẢ TÀI CHÍNH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828675"/>
            <a:ext cx="5322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Các chỉ số hiệu suất kinh doanh cốt lõi Tháng 05/2024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" y="3128962"/>
            <a:ext cx="1571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Plus Jakarta Sans"/>
              </a:rPr>
              <a:t>DOANH THU THUẦN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9680" y="3414712"/>
            <a:ext cx="1320165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1E3A8A"/>
                </a:solidFill>
                <a:latin typeface="Plus Jakarta Sans"/>
              </a:rPr>
              <a:t>12,45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3050" y="3900487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Tỷ VNĐ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128962"/>
            <a:ext cx="1171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Plus Jakarta Sans"/>
              </a:rPr>
              <a:t>TỔNG CHI PHÍ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0518" y="3414712"/>
            <a:ext cx="1100137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14532D"/>
                </a:solidFill>
                <a:latin typeface="Plus Jakarta Sans"/>
              </a:rPr>
              <a:t>7,28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3875" y="3900487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A34A"/>
                </a:solidFill>
                <a:latin typeface="Plus Jakarta Sans"/>
              </a:rPr>
              <a:t>Tỷ VNĐ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4662" y="3128962"/>
            <a:ext cx="133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Plus Jakarta Sans"/>
              </a:rPr>
              <a:t>LỢI NHUẬN GỘP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348" y="3414712"/>
            <a:ext cx="1030128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581C87"/>
                </a:solidFill>
                <a:latin typeface="Plus Jakarta Sans"/>
              </a:rPr>
              <a:t>5,17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4700" y="3900487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333EA"/>
                </a:solidFill>
                <a:latin typeface="Plus Jakarta Sans"/>
              </a:rPr>
              <a:t>Tỷ VNĐ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5025" y="3128962"/>
            <a:ext cx="1114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Plus Jakarta Sans"/>
              </a:rPr>
              <a:t>LN SAU THUẾ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7165" y="3414712"/>
            <a:ext cx="1150143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850" i="0" u="none">
                <a:solidFill>
                  <a:srgbClr val="7C2D12"/>
                </a:solidFill>
                <a:latin typeface="Plus Jakarta Sans"/>
              </a:rPr>
              <a:t>2,89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5525" y="3900487"/>
            <a:ext cx="733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A580C"/>
                </a:solidFill>
                <a:latin typeface="Plus Jakarta Sans"/>
              </a:rPr>
              <a:t>Tỷ VNĐ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3500" y="5986462"/>
            <a:ext cx="6584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Tăng trưởng doanh thu mạnh – Tối ưu chi phí – Lợi nhuận bứt phá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62137" y="4200525"/>
            <a:ext cx="752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so với T4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8675" y="4200525"/>
            <a:ext cx="752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so với T4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8550" y="4200525"/>
            <a:ext cx="752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so với T4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4612" y="4200525"/>
            <a:ext cx="7524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so với T4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00150"/>
            <a:ext cx="5775573" cy="520065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89973" y="1200150"/>
            <a:ext cx="4892426" cy="5200650"/>
          </a:xfrm>
          <a:prstGeom prst="roundRect">
            <a:avLst>
              <a:gd name="adj" fmla="val 31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817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686175"/>
            <a:ext cx="5299323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059" y="4457700"/>
            <a:ext cx="998934" cy="1685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993" y="4219575"/>
            <a:ext cx="998934" cy="1924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928" y="3981450"/>
            <a:ext cx="998934" cy="2162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862" y="3590925"/>
            <a:ext cx="998934" cy="255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862" y="2595562"/>
            <a:ext cx="1714500" cy="171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0" y="614362"/>
            <a:ext cx="8953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D4ED8"/>
                </a:solidFill>
                <a:latin typeface="Plus Jakarta Sans"/>
              </a:rPr>
              <a:t>PayKX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5775721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PHÂN TÍCH DOANH THU &amp; CHI PHÍ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28675"/>
            <a:ext cx="5500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Xu hướng tăng trưởng 5 tháng đầu năm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438275"/>
            <a:ext cx="66241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Plus Jakarta Sans"/>
              </a:rPr>
              <a:t>DOANH THU THUẦN (Tỷ VNĐ)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8098" y="1438275"/>
            <a:ext cx="52639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Plus Jakarta Sans"/>
              </a:rPr>
              <a:t>CƠ CẤU CHI PHÍ (T5/2024)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701" y="4457700"/>
            <a:ext cx="533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3A8A"/>
                </a:solidFill>
                <a:latin typeface="Plus Jakarta Sans"/>
              </a:rPr>
              <a:t>8,01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4226" y="5991225"/>
            <a:ext cx="514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8398" y="4219575"/>
            <a:ext cx="523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3A8A"/>
                </a:solidFill>
                <a:latin typeface="Plus Jakarta Sans"/>
              </a:rPr>
              <a:t>9,36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160" y="5991225"/>
            <a:ext cx="514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470" y="3981450"/>
            <a:ext cx="609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3A8A"/>
                </a:solidFill>
                <a:latin typeface="Plus Jakarta Sans"/>
              </a:rPr>
              <a:t>10,50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2095" y="5991225"/>
            <a:ext cx="514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8642" y="3590925"/>
            <a:ext cx="61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12,45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1029" y="5991225"/>
            <a:ext cx="514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449" y="3271837"/>
            <a:ext cx="6953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7,28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49" y="3509962"/>
            <a:ext cx="69532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Tỷ VNĐ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5267325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45%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58525" y="5514975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28%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7100" y="5762625"/>
            <a:ext cx="5429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16%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15675" y="6010275"/>
            <a:ext cx="514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11%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598" y="5267325"/>
            <a:ext cx="1654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Phí đối tác &amp; ngân hàng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8598" y="5514975"/>
            <a:ext cx="1181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Chi phí vận hành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8598" y="5762625"/>
            <a:ext cx="1285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Chi phí 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8598" y="6010275"/>
            <a:ext cx="9715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Chi phí khác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14975"/>
            <a:ext cx="10972800" cy="885825"/>
          </a:xfrm>
          <a:prstGeom prst="roundRect">
            <a:avLst>
              <a:gd name="adj" fmla="val 1720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3625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333625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333625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0" y="5805487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817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098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26098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26098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62" y="2743200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87" y="2743200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274320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14362"/>
            <a:ext cx="8953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D4ED8"/>
                </a:solidFill>
                <a:latin typeface="Plus Jakarta Sans"/>
              </a:rPr>
              <a:t>PayKX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685085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ĐỘNG LỰC TĂNG TRƯỞNG &amp; KẾ HOẠCH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828675"/>
            <a:ext cx="6524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Định hướng chiến lược cho Tháng 06/2024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25755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Mở Rộng Người Dùng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590925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Thêm 45.000 tài khoản sinh viên mới đăng ký trong tháng 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257550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Mạng Lưới Đối Tác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590925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Kết nối 120 điểm thanh toán mới quanh khu vực đại học.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257550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Mục Tiêu Tháng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590925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Dự kiến doanh thu đạt mốc 14,5 Tỷ VNĐ (+16% tăng trưởng).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43575"/>
            <a:ext cx="5357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PAYKX - BỨT PHÁ CÔNG NGHỆ TÀI CHÍNH SINH VIÊN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00750"/>
            <a:ext cx="5357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Cam kết tăng trưởng bền vững và tối ưu hóa lợi nhuận cho nhà đầu tư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https://img.magnific.com/premium-vector/digital-wallet-icon-made-binary-code-ewallet-online-payment-by-digital-wallet-online-banking-service-application-mobile-banking-digital-code-background-with-0s-1s-vector-illustration_127544-4764.jpg?semt=ais_hybrid&amp;w=740&amp;q=80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52550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